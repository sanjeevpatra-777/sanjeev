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ACF1A-51AF-305B-8594-A3214B8F3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CF1C5D-F452-9856-8CF6-2CAD8443C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1F002-4A2B-72DB-A811-907DC4061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B5491-2563-4DD2-AB2F-8DF7624FA259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DD4AE-E20A-45C4-97C1-10BA905AB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3C523-63E5-7792-3453-5C1D6268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844D9-5908-4442-B491-D635CF70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50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FED5-251A-C95A-EC74-E7779101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49E44-9C63-27BE-6200-0392297FC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6BDEB-4AEF-16C9-9EA5-6A204B07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B5491-2563-4DD2-AB2F-8DF7624FA259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2A2C-48CE-A2F4-A30F-AD6776D3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A0B9C-99BF-B048-6F80-B8A56A6C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844D9-5908-4442-B491-D635CF70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92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84756-8647-84FE-13CA-DCFFF1356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6A5C5-26E2-C423-99C9-600FD321B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77719-EE27-9648-F157-B38928B7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B5491-2563-4DD2-AB2F-8DF7624FA259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93F4A-86EA-4838-EB77-4C9732A9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842CE-CA5B-F956-E364-E47F32FB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844D9-5908-4442-B491-D635CF70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43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BE77A-1418-E8A2-6C53-7489D50A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3CFA3-B917-D391-4506-ADBB80944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B4A72-C239-41FD-AB52-1B32067C1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562F7-F5E7-709A-8616-BC2FE6C40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B5491-2563-4DD2-AB2F-8DF7624FA259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44170-D783-9E00-C090-6CC44A8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3A3E5-ABEA-38DA-373D-D06976B1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844D9-5908-4442-B491-D635CF70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33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84B7-F05B-8C08-D2BD-53A98C1A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C6F72-3B47-2182-AEF8-96301FEAE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FA36C-DA4B-DACE-DC9F-4850D0E77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F23FC2-99AB-3FDF-3C14-D7789F3FB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6BEDCA-75C8-D338-7942-81E3A71CCB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A2493A-8242-506C-DC94-F4C7FD30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B5491-2563-4DD2-AB2F-8DF7624FA259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90C212-7E31-6232-DE17-9A718011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573873-BDE5-7CAA-B3C6-AF4766F1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844D9-5908-4442-B491-D635CF70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7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5534C-E198-1625-BA52-E8917C74C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9198D-4BC0-6AA3-51C4-BF73F6923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B5491-2563-4DD2-AB2F-8DF7624FA259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1DD873-429E-240A-E13D-D16DFE02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0015DB-FE47-2AE5-F59D-5CA361E2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844D9-5908-4442-B491-D635CF70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87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15D82-8F4C-FB99-1453-1A067D04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B5491-2563-4DD2-AB2F-8DF7624FA259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B4076-ABDB-AC77-10FE-67ECC4C12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EEFF9-C209-E73B-EFF5-CD94239E7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844D9-5908-4442-B491-D635CF70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29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24330-1182-814C-3418-62E36009E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899C5-F4B0-FB61-5589-168D8E7EC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919F-049B-0A48-A1A0-A26ACAE95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FF96B-2D9F-694C-B103-48BC8D7E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B5491-2563-4DD2-AB2F-8DF7624FA259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F86DD-36E3-59B1-F598-20C471D55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45D10-AE66-D11A-7461-D673D7DEF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844D9-5908-4442-B491-D635CF70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97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9464-7549-D05A-2782-F0C514843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F521B9-B668-DE0A-FB7C-9C99E38E37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EB9D3-9A95-02BB-B05B-300501D5C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A19D-6782-E35F-7C00-81E0A5C80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B5491-2563-4DD2-AB2F-8DF7624FA259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D5070-DA14-FC81-D0AA-90D36B0B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D5475-8328-7340-61AE-D1BBF3C8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844D9-5908-4442-B491-D635CF70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18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8FFCF-EA64-DDCB-E345-93EB7BA38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12068-E681-284F-1A5C-9E460EA07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02B6E-7C14-DC76-399B-22BF8E069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B5491-2563-4DD2-AB2F-8DF7624FA259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74AEF-D2D2-271C-0C8E-FE61A7B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1D0AC-32FB-709D-CB37-8492B1A45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844D9-5908-4442-B491-D635CF70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072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8A753-C981-D337-8874-5E4D51788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D66E5-3D33-0BDF-7A72-575B8DF95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5EB1A-1A10-6BC8-67FE-7D9EF5A0D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B5491-2563-4DD2-AB2F-8DF7624FA259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58855-A5A0-A990-E6B0-05D30FD9B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47C87-C908-62DF-DF7B-16BC01EA7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844D9-5908-4442-B491-D635CF70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07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3678EB-7A4F-4AF8-9676-6AA4BF657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C31A4-FF9D-FE86-01FC-06DCAF5B9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FC862-5FD6-B8A5-9FB0-C96E61493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B5491-2563-4DD2-AB2F-8DF7624FA259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24304-312D-82A7-7095-B7CF796014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C15B9-CA30-FA2B-7056-5C082AFFE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844D9-5908-4442-B491-D635CF70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28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njeevpatra-777/Sanjeev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63DD7-2294-CD6A-7646-C9EECF866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Doc Intelligence Platform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4A7BD1-D305-9982-A883-651C8E348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58761" y="5538993"/>
            <a:ext cx="13735664" cy="1655762"/>
          </a:xfrm>
        </p:spPr>
        <p:txBody>
          <a:bodyPr/>
          <a:lstStyle/>
          <a:p>
            <a:r>
              <a:rPr lang="en-US" b="1" dirty="0"/>
              <a:t>Sanjeev Patra  | TWT AI Powered Doc Mastery | </a:t>
            </a:r>
            <a:r>
              <a:rPr lang="en-IN" dirty="0">
                <a:hlinkClick r:id="rId2"/>
              </a:rPr>
              <a:t>sanjeevpatra-777/Sanjeev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36885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E7CA2-3C74-1476-9ABA-4F2BBF9AB99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n-lt"/>
                <a:ea typeface="+mn-ea"/>
                <a:cs typeface="+mn-cs"/>
              </a:rPr>
              <a:t>Project Introduction</a:t>
            </a:r>
            <a:endParaRPr lang="en-IN" sz="2800" b="1" dirty="0"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7F1568-147E-6A23-A29F-D06BDE1F2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1E7EBC-BFAC-2F11-FD29-D81F0ADC6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8" y="1725546"/>
            <a:ext cx="9987224" cy="458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35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E0CCF3-6B7F-4117-1B8F-6E0496BB5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154" y="2391508"/>
            <a:ext cx="8864088" cy="31224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CA88F8-A885-B35F-2178-B16D7DAB6F1E}"/>
              </a:ext>
            </a:extLst>
          </p:cNvPr>
          <p:cNvSpPr txBox="1"/>
          <p:nvPr/>
        </p:nvSpPr>
        <p:spPr>
          <a:xfrm>
            <a:off x="1436915" y="864158"/>
            <a:ext cx="9726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High-Level Approach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236490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41ED-A25F-700B-B226-7CD008901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Skill-creator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7CBAC-419E-9883-31E4-115AD5EDC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49357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00" dirty="0"/>
              <a:t>/</a:t>
            </a:r>
            <a:r>
              <a:rPr lang="en-US" sz="1300" b="1" dirty="0"/>
              <a:t>skill-creator</a:t>
            </a:r>
          </a:p>
          <a:p>
            <a:pPr marL="0" indent="0">
              <a:buNone/>
            </a:pPr>
            <a:r>
              <a:rPr lang="en-US" sz="1300" b="1" dirty="0"/>
              <a:t>R — Role:</a:t>
            </a:r>
          </a:p>
          <a:p>
            <a:pPr marL="0" indent="0">
              <a:buNone/>
            </a:pPr>
            <a:r>
              <a:rPr lang="en-US" sz="1300" dirty="0"/>
              <a:t>You are a Senior DITA Information Architect with 15 years of experience in structured authoring, XML content engineering, and enterprise</a:t>
            </a:r>
          </a:p>
          <a:p>
            <a:pPr marL="0" indent="0">
              <a:buNone/>
            </a:pPr>
            <a:r>
              <a:rPr lang="en-US" sz="1300" dirty="0"/>
              <a:t>documentation migration. You </a:t>
            </a:r>
            <a:r>
              <a:rPr lang="en-US" sz="1300" dirty="0" err="1"/>
              <a:t>specialise</a:t>
            </a:r>
            <a:r>
              <a:rPr lang="en-US" sz="1300" dirty="0"/>
              <a:t> in converting unstructured Word documents into valid, well-formed DITA 1.3 topics while</a:t>
            </a:r>
          </a:p>
          <a:p>
            <a:pPr marL="0" indent="0">
              <a:buNone/>
            </a:pPr>
            <a:r>
              <a:rPr lang="en-US" sz="1300" dirty="0"/>
              <a:t>preserving complete document fidelity.</a:t>
            </a:r>
          </a:p>
          <a:p>
            <a:pPr marL="0" indent="0">
              <a:buNone/>
            </a:pPr>
            <a:r>
              <a:rPr lang="en-US" sz="1300" b="1" dirty="0"/>
              <a:t>T — Task:</a:t>
            </a:r>
          </a:p>
          <a:p>
            <a:pPr marL="0" indent="0">
              <a:buNone/>
            </a:pPr>
            <a:r>
              <a:rPr lang="en-US" sz="1300" dirty="0"/>
              <a:t>Create a skill named "convert" that converts a Microsoft Word (.docx) document into a single valid DITA 1.3 topic file. The skill takes the</a:t>
            </a:r>
          </a:p>
          <a:p>
            <a:pPr marL="0" indent="0">
              <a:buNone/>
            </a:pPr>
            <a:r>
              <a:rPr lang="en-US" sz="1300" dirty="0"/>
              <a:t>input filename (without path) as $ARGUMENTS, reads the document from the input/ folder, and writes the converted DITA file to the output/ folder.</a:t>
            </a:r>
          </a:p>
          <a:p>
            <a:pPr marL="0" indent="0">
              <a:buNone/>
            </a:pPr>
            <a:r>
              <a:rPr lang="en-US" sz="1300" b="1" dirty="0"/>
              <a:t>C — Context:</a:t>
            </a:r>
          </a:p>
          <a:p>
            <a:pPr marL="0" indent="0">
              <a:buNone/>
            </a:pPr>
            <a:r>
              <a:rPr lang="en-US" sz="1300" dirty="0"/>
              <a:t>The input documents are software setup guides and system design documents produced by technical writers. A representative sample</a:t>
            </a:r>
          </a:p>
          <a:p>
            <a:pPr marL="0" indent="0">
              <a:buNone/>
            </a:pPr>
            <a:r>
              <a:rPr lang="en-US" sz="1300" dirty="0"/>
              <a:t>(input/Sample_Doc_for_DITA_Conversion.docx) contains: </a:t>
            </a:r>
          </a:p>
          <a:p>
            <a:pPr marL="0" indent="0">
              <a:buNone/>
            </a:pPr>
            <a:r>
              <a:rPr lang="en-US" sz="1300" dirty="0"/>
              <a:t>a document title, two levels of headings, introduction paragraphs, bullet lists, a numbered procedure section titled "Procedure: Creating a New Project", </a:t>
            </a:r>
          </a:p>
          <a:p>
            <a:pPr marL="0" indent="0">
              <a:buNone/>
            </a:pPr>
            <a:r>
              <a:rPr lang="en-US" sz="1300" dirty="0"/>
              <a:t>two data tables (an entity/attributes table and a stakeholder table),  two figure references with captions ("Figure 1" and "Figure 2"), </a:t>
            </a:r>
          </a:p>
          <a:p>
            <a:pPr marL="0" indent="0">
              <a:buNone/>
            </a:pPr>
            <a:r>
              <a:rPr lang="en-US" sz="1300" dirty="0"/>
              <a:t>bold inline formatting, and a milestones list.  </a:t>
            </a:r>
          </a:p>
          <a:p>
            <a:pPr marL="0" indent="0">
              <a:buNone/>
            </a:pPr>
            <a:r>
              <a:rPr lang="en-US" sz="1300" dirty="0"/>
              <a:t>The converted DITA output will be consumed by a downstream rebranding skill and then a validation skill, so structural correctness matters more than visual styling.</a:t>
            </a:r>
          </a:p>
          <a:p>
            <a:pPr marL="0" indent="0">
              <a:buNone/>
            </a:pP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4068382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781F3-6472-6EA8-86FD-8320D7A1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Skill-creator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2AA1D-D482-5B40-9492-039747182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C — Constraints:</a:t>
            </a:r>
          </a:p>
          <a:p>
            <a:r>
              <a:rPr lang="en-US" dirty="0"/>
              <a:t>- MUST produce a single DITA 1.3 &lt;topic&gt; document with a DOCTYPE  declaration (&lt;!DOCTYPE topic PUBLIC "-//OASIS//DTD DITA Topic//EN“   "topic.dtd"&gt;).</a:t>
            </a:r>
          </a:p>
          <a:p>
            <a:r>
              <a:rPr lang="en-US" dirty="0"/>
              <a:t>- MUST make &lt;title&gt; the first child of &lt;topic&gt;, using the document’s   main heading.</a:t>
            </a:r>
          </a:p>
          <a:p>
            <a:r>
              <a:rPr lang="en-US" dirty="0"/>
              <a:t>- MUST give the root &lt;topic&gt; an id attribute derived from the   filename (lowercase, hyphens for spaces).</a:t>
            </a:r>
          </a:p>
          <a:p>
            <a:r>
              <a:rPr lang="en-US" dirty="0"/>
              <a:t>- MUST map Word heading levels to nested &lt;section&gt; elements with   &lt;title&gt; children; do not flatten the hierarchy.</a:t>
            </a:r>
          </a:p>
          <a:p>
            <a:r>
              <a:rPr lang="en-US" dirty="0"/>
              <a:t>- MUST convert bullet lists to &lt;ul&gt;/&lt;li&gt; and numbered lists to   &lt;</a:t>
            </a:r>
            <a:r>
              <a:rPr lang="en-US" dirty="0" err="1"/>
              <a:t>ol</a:t>
            </a:r>
            <a:r>
              <a:rPr lang="en-US" dirty="0"/>
              <a:t>&gt;/&lt;li&gt;.</a:t>
            </a:r>
          </a:p>
          <a:p>
            <a:r>
              <a:rPr lang="en-US" dirty="0"/>
              <a:t>- MUST render the procedure section as an &lt;</a:t>
            </a:r>
            <a:r>
              <a:rPr lang="en-US" dirty="0" err="1"/>
              <a:t>ol</a:t>
            </a:r>
            <a:r>
              <a:rPr lang="en-US" dirty="0"/>
              <a:t>&gt; of steps inside its   own &lt;section&gt;.</a:t>
            </a:r>
          </a:p>
          <a:p>
            <a:r>
              <a:rPr lang="en-US" dirty="0"/>
              <a:t>- MUST convert Word tables to DITA &lt;table&gt;/&lt;</a:t>
            </a:r>
            <a:r>
              <a:rPr lang="en-US" dirty="0" err="1"/>
              <a:t>tgroup</a:t>
            </a:r>
            <a:r>
              <a:rPr lang="en-US" dirty="0"/>
              <a:t>&gt;/&lt;</a:t>
            </a:r>
            <a:r>
              <a:rPr lang="en-US" dirty="0" err="1"/>
              <a:t>thead</a:t>
            </a:r>
            <a:r>
              <a:rPr lang="en-US" dirty="0"/>
              <a:t>&gt;/&lt;</a:t>
            </a:r>
            <a:r>
              <a:rPr lang="en-US" dirty="0" err="1"/>
              <a:t>tbody</a:t>
            </a:r>
            <a:r>
              <a:rPr lang="en-US" dirty="0"/>
              <a:t>&gt;   markup with correct column counts, preserving header rows.</a:t>
            </a:r>
          </a:p>
          <a:p>
            <a:r>
              <a:rPr lang="en-US" dirty="0"/>
              <a:t>- MUST keep every element in its ORIGINAL document order — tables and   figures must appear exactly where they appear in the Word document,   not collected at the end. This is a known failure mode; treat it as   the highest-priority correctness rule.</a:t>
            </a:r>
          </a:p>
          <a:p>
            <a:r>
              <a:rPr lang="en-US" dirty="0"/>
              <a:t>- MUST represent figures as &lt;fig&gt; with &lt;title&gt; from the caption and an  &lt;image </a:t>
            </a:r>
            <a:r>
              <a:rPr lang="en-US" dirty="0" err="1"/>
              <a:t>href</a:t>
            </a:r>
            <a:r>
              <a:rPr lang="en-US" dirty="0"/>
              <a:t>="images/&lt;figure-name&gt;.</a:t>
            </a:r>
            <a:r>
              <a:rPr lang="en-US" dirty="0" err="1"/>
              <a:t>png</a:t>
            </a:r>
            <a:r>
              <a:rPr lang="en-US" dirty="0"/>
              <a:t>"/&gt; placeholder.</a:t>
            </a:r>
          </a:p>
          <a:p>
            <a:r>
              <a:rPr lang="en-US" dirty="0"/>
              <a:t>- MUST preserve bold inline formatting as &lt;b&gt; and italic as &lt;</a:t>
            </a:r>
            <a:r>
              <a:rPr lang="en-US" dirty="0" err="1"/>
              <a:t>i</a:t>
            </a:r>
            <a:r>
              <a:rPr lang="en-US" dirty="0"/>
              <a:t>&gt;.</a:t>
            </a:r>
          </a:p>
          <a:p>
            <a:r>
              <a:rPr lang="en-US" dirty="0"/>
              <a:t>- MUST NOT invent, </a:t>
            </a:r>
            <a:r>
              <a:rPr lang="en-US" dirty="0" err="1"/>
              <a:t>summarise</a:t>
            </a:r>
            <a:r>
              <a:rPr lang="en-US" dirty="0"/>
              <a:t>, reorder, or omit any content — this is   a lossless structural conversion, not a rewrite.</a:t>
            </a:r>
          </a:p>
          <a:p>
            <a:r>
              <a:rPr lang="en-US" dirty="0"/>
              <a:t>- MUST NOT use any Python scripts or external tools; perform the  conversion by reading the document and writing the XML directly.</a:t>
            </a:r>
          </a:p>
          <a:p>
            <a:r>
              <a:rPr lang="en-US" dirty="0"/>
              <a:t>- MUST report a conversion summary at the end: counts of sections, paragraphs, lists, tables, and figures converted.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236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4A35-008F-F636-0DC5-3B47C91E9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Skill-creator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62AC0-66CD-BE46-EDA0-13E47D3A1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300" dirty="0"/>
              <a:t>O — Output:</a:t>
            </a:r>
          </a:p>
          <a:p>
            <a:r>
              <a:rPr lang="en-IN" sz="1300" dirty="0"/>
              <a:t>- Output file: output/$ARGUMENTS-</a:t>
            </a:r>
            <a:r>
              <a:rPr lang="en-IN" sz="1300" dirty="0" err="1"/>
              <a:t>output.dita</a:t>
            </a:r>
            <a:r>
              <a:rPr lang="en-IN" sz="1300" dirty="0"/>
              <a:t>  (where $ARGUMENTS is the input filename without its .docx extension — e.g.  input/Sample_Doc_for_DITA_Conversion.docx becomes   output/</a:t>
            </a:r>
            <a:r>
              <a:rPr lang="en-IN" sz="1300" dirty="0" err="1"/>
              <a:t>Sample_Doc_for_DITA_Conversion-output.dita</a:t>
            </a:r>
            <a:r>
              <a:rPr lang="en-IN" sz="1300" dirty="0"/>
              <a:t>)</a:t>
            </a:r>
          </a:p>
          <a:p>
            <a:r>
              <a:rPr lang="en-IN" sz="1300" dirty="0"/>
              <a:t>- Encoding: UTF-8, XML declaration on line 1, DOCTYPE on line 2.</a:t>
            </a:r>
          </a:p>
          <a:p>
            <a:r>
              <a:rPr lang="en-IN" sz="1300" dirty="0"/>
              <a:t>- Console summary: table of element counts plus the output file path.</a:t>
            </a:r>
          </a:p>
          <a:p>
            <a:r>
              <a:rPr lang="en-IN" sz="1300" dirty="0"/>
              <a:t>- Example invocation: /Sample_Doc_for_DITA_Conversion_Converted.docx</a:t>
            </a:r>
          </a:p>
        </p:txBody>
      </p:sp>
    </p:spTree>
    <p:extLst>
      <p:ext uri="{BB962C8B-B14F-4D97-AF65-F5344CB8AC3E}">
        <p14:creationId xmlns:p14="http://schemas.microsoft.com/office/powerpoint/2010/main" val="1158566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78A2D-D395-9E91-562F-CC953422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RTCCO framework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C02D8-00A5-9022-DAD6-BD5727655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3933351-223F-024C-D5FB-7A00DAC6BA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517119"/>
              </p:ext>
            </p:extLst>
          </p:nvPr>
        </p:nvGraphicFramePr>
        <p:xfrm>
          <a:off x="1887128" y="2488278"/>
          <a:ext cx="2175780" cy="940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196375" imgH="517956" progId="Package">
                  <p:embed/>
                </p:oleObj>
              </mc:Choice>
              <mc:Fallback>
                <p:oleObj name="Packager Shell Object" showAsIcon="1" r:id="rId2" imgW="1196375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87128" y="2488278"/>
                        <a:ext cx="2175780" cy="940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10475A3-6A74-FDE4-D180-CA84B1A91B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452991"/>
              </p:ext>
            </p:extLst>
          </p:nvPr>
        </p:nvGraphicFramePr>
        <p:xfrm>
          <a:off x="5220314" y="2441114"/>
          <a:ext cx="2065390" cy="871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1226997" imgH="517956" progId="Package">
                  <p:embed/>
                </p:oleObj>
              </mc:Choice>
              <mc:Fallback>
                <p:oleObj name="Packager Shell Object" showAsIcon="1" r:id="rId4" imgW="1226997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20314" y="2441114"/>
                        <a:ext cx="2065390" cy="8710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75DC87F-77DE-CCF0-65D3-B89CF8FA09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529215"/>
              </p:ext>
            </p:extLst>
          </p:nvPr>
        </p:nvGraphicFramePr>
        <p:xfrm>
          <a:off x="8059838" y="2354486"/>
          <a:ext cx="2245034" cy="940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6" imgW="1234653" imgH="517956" progId="Package">
                  <p:embed/>
                </p:oleObj>
              </mc:Choice>
              <mc:Fallback>
                <p:oleObj name="Packager Shell Object" showAsIcon="1" r:id="rId6" imgW="1234653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059838" y="2354486"/>
                        <a:ext cx="2245034" cy="9407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994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710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Package</vt:lpstr>
      <vt:lpstr>Doc Intelligence Platform</vt:lpstr>
      <vt:lpstr>Project Introduction</vt:lpstr>
      <vt:lpstr>PowerPoint Presentation</vt:lpstr>
      <vt:lpstr>Skill-creator </vt:lpstr>
      <vt:lpstr>Skill-creator</vt:lpstr>
      <vt:lpstr>Skill-creator</vt:lpstr>
      <vt:lpstr>RTCCO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Sanjeev Patra</dc:creator>
  <cp:lastModifiedBy>Sanjeev Patra</cp:lastModifiedBy>
  <cp:revision>5</cp:revision>
  <dcterms:created xsi:type="dcterms:W3CDTF">2026-07-04T16:00:15Z</dcterms:created>
  <dcterms:modified xsi:type="dcterms:W3CDTF">2026-07-05T04:27:16Z</dcterms:modified>
</cp:coreProperties>
</file>